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74320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F74600-4E0C-BA42-90BC-999E31B2DCA7}" v="269" dt="2025-12-07T01:07:38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717"/>
  </p:normalViewPr>
  <p:slideViewPr>
    <p:cSldViewPr snapToGrid="0">
      <p:cViewPr>
        <p:scale>
          <a:sx n="50" d="100"/>
          <a:sy n="50" d="100"/>
        </p:scale>
        <p:origin x="368" y="-5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54EF0-9E23-804E-B75E-0A9AF0FED2A7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A72DD-A1D9-E544-BCD3-9C16E9C81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3360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A72DD-A1D9-E544-BCD3-9C16E9C819D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334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6285233"/>
            <a:ext cx="23317200" cy="1337056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20171413"/>
            <a:ext cx="20574000" cy="9272267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1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68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9574541"/>
            <a:ext cx="23660100" cy="15975327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25701001"/>
            <a:ext cx="23660100" cy="8401047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2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10223500"/>
            <a:ext cx="1165860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10223500"/>
            <a:ext cx="1165860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4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044708"/>
            <a:ext cx="23660100" cy="7423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9414513"/>
            <a:ext cx="11605020" cy="461390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4028420"/>
            <a:ext cx="11605020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9414513"/>
            <a:ext cx="11662173" cy="461390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14028420"/>
            <a:ext cx="11662173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3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4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2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560320"/>
            <a:ext cx="8847534" cy="896112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5529588"/>
            <a:ext cx="13887450" cy="27292300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1521440"/>
            <a:ext cx="8847534" cy="21344893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560320"/>
            <a:ext cx="8847534" cy="896112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5529588"/>
            <a:ext cx="13887450" cy="27292300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1521440"/>
            <a:ext cx="8847534" cy="21344893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7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2044700"/>
            <a:ext cx="5915025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2044700"/>
            <a:ext cx="17402175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1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2044708"/>
            <a:ext cx="2366010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10223500"/>
            <a:ext cx="2366010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35595568"/>
            <a:ext cx="617220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0E4F7-35A2-4C64-ACAB-B816A7DDEC2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35595568"/>
            <a:ext cx="925830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35595568"/>
            <a:ext cx="617220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DCBC9-D41D-4367-9C13-8BE63C78C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7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jpe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B75A4713-A1D8-FB44-F085-6E1FBAFCFA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1878" y="5516241"/>
            <a:ext cx="27483877" cy="328885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065D9-6FAC-79E9-CF70-20FAF1D026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-1"/>
            <a:ext cx="27432000" cy="556260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C0048-5AAC-884A-D0E1-ECAB4EAF71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7631" y="653372"/>
            <a:ext cx="2615673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>
                <a:solidFill>
                  <a:schemeClr val="bg1"/>
                </a:solidFill>
                <a:latin typeface="Arial Black" panose="020B0A04020102020204" pitchFamily="34" charset="0"/>
              </a:rPr>
              <a:t>Quantum Lightning</a:t>
            </a:r>
            <a:r>
              <a:rPr lang="en-US" sz="7200">
                <a:solidFill>
                  <a:schemeClr val="bg1"/>
                </a:solidFill>
                <a:latin typeface="Arial Black" panose="020B0A04020102020204" pitchFamily="34" charset="0"/>
              </a:rPr>
              <a:t>: Intuition, Construction, and the Limits of Public-Key Money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7A955-6144-EF56-6B8F-7F0D6876DB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1062" y="3331028"/>
            <a:ext cx="180498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0" i="0" u="none" strike="noStrike" baseline="0" err="1">
                <a:solidFill>
                  <a:schemeClr val="bg1"/>
                </a:solidFill>
                <a:latin typeface="CMR12"/>
              </a:rPr>
              <a:t>Juncheng</a:t>
            </a:r>
            <a:r>
              <a:rPr lang="en-US" sz="6000" b="0" i="0" u="none" strike="noStrike" baseline="0">
                <a:solidFill>
                  <a:schemeClr val="bg1"/>
                </a:solidFill>
                <a:latin typeface="CMR12"/>
              </a:rPr>
              <a:t> Ding, Tian </a:t>
            </a:r>
            <a:r>
              <a:rPr lang="en-US" sz="6000" b="0" i="0" u="none" strike="noStrike" baseline="0" err="1">
                <a:solidFill>
                  <a:schemeClr val="bg1"/>
                </a:solidFill>
                <a:latin typeface="CMR12"/>
              </a:rPr>
              <a:t>Ariyaratrangsee</a:t>
            </a:r>
            <a:r>
              <a:rPr lang="en-US" sz="6000" b="0" i="0" u="none" strike="noStrike" baseline="0">
                <a:solidFill>
                  <a:schemeClr val="bg1"/>
                </a:solidFill>
                <a:latin typeface="CMR12"/>
              </a:rPr>
              <a:t>, Xiaoyang Zheng</a:t>
            </a:r>
          </a:p>
          <a:p>
            <a:pPr algn="ctr"/>
            <a:r>
              <a:rPr lang="en-US" sz="6000" b="0" i="0" u="none" strike="noStrike" baseline="0">
                <a:solidFill>
                  <a:schemeClr val="bg1"/>
                </a:solidFill>
                <a:latin typeface="CMR12"/>
              </a:rPr>
              <a:t>PHYS-C191A Final Report, UC Berkeley</a:t>
            </a:r>
            <a:endParaRPr lang="en-US" sz="600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0B104-2FA6-61F7-63F1-DC35A1865FAD}"/>
              </a:ext>
            </a:extLst>
          </p:cNvPr>
          <p:cNvSpPr txBox="1"/>
          <p:nvPr/>
        </p:nvSpPr>
        <p:spPr>
          <a:xfrm>
            <a:off x="530883" y="7716658"/>
            <a:ext cx="8431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1.Introduction to Quantum  Money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06B538-1DDA-7CC9-7B34-26576FB477F9}"/>
              </a:ext>
            </a:extLst>
          </p:cNvPr>
          <p:cNvSpPr txBox="1"/>
          <p:nvPr/>
        </p:nvSpPr>
        <p:spPr>
          <a:xfrm>
            <a:off x="799970" y="8674673"/>
            <a:ext cx="711702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Core concept: Quantum money utilizes quantum states as banknotes, leveraging physical laws for security.</a:t>
            </a:r>
          </a:p>
          <a:p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96F2B3-B019-3452-2EFB-5AECD99D64D2}"/>
              </a:ext>
            </a:extLst>
          </p:cNvPr>
          <p:cNvSpPr txBox="1"/>
          <p:nvPr/>
        </p:nvSpPr>
        <p:spPr>
          <a:xfrm>
            <a:off x="1478979" y="6333140"/>
            <a:ext cx="6751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Foundations &amp; Motivation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C5AFC3-CDBF-3ABB-1239-0FEE2C25A669}"/>
              </a:ext>
            </a:extLst>
          </p:cNvPr>
          <p:cNvSpPr txBox="1"/>
          <p:nvPr/>
        </p:nvSpPr>
        <p:spPr>
          <a:xfrm>
            <a:off x="11569538" y="6091532"/>
            <a:ext cx="4784530" cy="76944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4400" b="1" dirty="0"/>
              <a:t>Core Mechanism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54E10-0419-7F50-9E9F-F87EE0F6C9D7}"/>
              </a:ext>
            </a:extLst>
          </p:cNvPr>
          <p:cNvSpPr txBox="1"/>
          <p:nvPr/>
        </p:nvSpPr>
        <p:spPr>
          <a:xfrm>
            <a:off x="20086873" y="6303512"/>
            <a:ext cx="6205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Limitation &amp; 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EA12F8-03C7-A349-8345-E0C8985C4BD1}"/>
              </a:ext>
            </a:extLst>
          </p:cNvPr>
          <p:cNvSpPr txBox="1"/>
          <p:nvPr/>
        </p:nvSpPr>
        <p:spPr>
          <a:xfrm>
            <a:off x="841876" y="14842327"/>
            <a:ext cx="6131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2. Private-key vs Public-key Schemes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59E0FE-8967-5F5F-55CF-0A09F5381C5E}"/>
              </a:ext>
            </a:extLst>
          </p:cNvPr>
          <p:cNvSpPr txBox="1"/>
          <p:nvPr/>
        </p:nvSpPr>
        <p:spPr>
          <a:xfrm>
            <a:off x="874590" y="29774038"/>
            <a:ext cx="6131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3. </a:t>
            </a:r>
            <a:r>
              <a:rPr lang="en-US" sz="4000" err="1"/>
              <a:t>Zhandry’s</a:t>
            </a:r>
            <a:r>
              <a:rPr lang="en-US" sz="4000"/>
              <a:t> Quantum Lightning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0DC3BB-E99D-0F89-16CE-3CF65E14D113}"/>
              </a:ext>
            </a:extLst>
          </p:cNvPr>
          <p:cNvSpPr txBox="1"/>
          <p:nvPr/>
        </p:nvSpPr>
        <p:spPr>
          <a:xfrm>
            <a:off x="9304868" y="7210701"/>
            <a:ext cx="931045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/>
              <a:t>4. </a:t>
            </a:r>
            <a:r>
              <a:rPr lang="en-US" altLang="zh-CN" sz="3600" b="1" dirty="0"/>
              <a:t>The "Win-Win" Framework</a:t>
            </a:r>
            <a:endParaRPr lang="en-US" sz="3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B1FBEA-D3E7-30B3-EDA9-0384FF62A5E0}"/>
              </a:ext>
            </a:extLst>
          </p:cNvPr>
          <p:cNvSpPr txBox="1"/>
          <p:nvPr/>
        </p:nvSpPr>
        <p:spPr>
          <a:xfrm>
            <a:off x="10951943" y="27161723"/>
            <a:ext cx="5849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6. </a:t>
            </a:r>
            <a:r>
              <a:rPr lang="en-US" altLang="zh-CN" sz="4000" dirty="0"/>
              <a:t>Anatomy of a Bolt</a:t>
            </a:r>
            <a:endParaRPr lang="en-US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0CDBAC-5792-981F-69E0-B73D072157A9}"/>
              </a:ext>
            </a:extLst>
          </p:cNvPr>
          <p:cNvSpPr txBox="1"/>
          <p:nvPr/>
        </p:nvSpPr>
        <p:spPr>
          <a:xfrm>
            <a:off x="18873691" y="7294718"/>
            <a:ext cx="6938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7. The Inflation Problem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E2F936-B911-90CD-2BFB-2C1F111EEC2B}"/>
              </a:ext>
            </a:extLst>
          </p:cNvPr>
          <p:cNvSpPr txBox="1"/>
          <p:nvPr/>
        </p:nvSpPr>
        <p:spPr>
          <a:xfrm>
            <a:off x="18828164" y="12676571"/>
            <a:ext cx="8849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8. The Cloning-Generation Dichotomy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FA1CE7-32A7-4B12-FE4C-C3EE2CEF7385}"/>
              </a:ext>
            </a:extLst>
          </p:cNvPr>
          <p:cNvSpPr txBox="1"/>
          <p:nvPr/>
        </p:nvSpPr>
        <p:spPr>
          <a:xfrm>
            <a:off x="19123360" y="20374634"/>
            <a:ext cx="3499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9. Conclusion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EDA842-6C8B-7DEB-B5F2-E9F05B9451D7}"/>
              </a:ext>
            </a:extLst>
          </p:cNvPr>
          <p:cNvSpPr txBox="1"/>
          <p:nvPr/>
        </p:nvSpPr>
        <p:spPr>
          <a:xfrm>
            <a:off x="20423786" y="33381262"/>
            <a:ext cx="32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References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01916D-D193-AA51-460F-7882B21B615A}"/>
              </a:ext>
            </a:extLst>
          </p:cNvPr>
          <p:cNvSpPr txBox="1"/>
          <p:nvPr/>
        </p:nvSpPr>
        <p:spPr>
          <a:xfrm>
            <a:off x="645589" y="11195297"/>
            <a:ext cx="801693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 The No-Cloning Theorem: The security backbone is the impossibility of copying unknown quantum states. There is no </a:t>
            </a:r>
            <a:r>
              <a:rPr lang="en-US" sz="3200" err="1"/>
              <a:t>mapC</a:t>
            </a:r>
            <a:r>
              <a:rPr lang="en-US" sz="3200"/>
              <a:t> such that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292613-20B1-A694-5585-E69D1DD7BB57}"/>
              </a:ext>
            </a:extLst>
          </p:cNvPr>
          <p:cNvSpPr txBox="1"/>
          <p:nvPr/>
        </p:nvSpPr>
        <p:spPr>
          <a:xfrm>
            <a:off x="1002923" y="16599921"/>
            <a:ext cx="78034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Private-Key (Wiesner's Scheme): </a:t>
            </a:r>
            <a:r>
              <a:rPr lang="en-US" sz="3200"/>
              <a:t>Relies on a trusted authority (Bank) holding secret information. Verification requires measuring qubits in secret bases known only to the bank.* *Public-Key Quantum Money:*    * *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0F787E-2E90-0932-2FCB-1A5CDC5A1D70}"/>
              </a:ext>
            </a:extLst>
          </p:cNvPr>
          <p:cNvSpPr txBox="1"/>
          <p:nvPr/>
        </p:nvSpPr>
        <p:spPr>
          <a:xfrm>
            <a:off x="1185934" y="31280150"/>
            <a:ext cx="733129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Definition:* A stronger form of public-key quantum money where "lightning never strikes the same place twice".* *Bolts:* Quantum states generated via a public procedure Storm.* *The "No Double-Strike" Property:* It is computationally infeasible to produce two distinct bolts, $\rho_1$ and $\rho_2$, that verify to the same serial number $s$. This is stronger than standard no-cloning; it prevents an adversary from generating any collision, not just copying a specific target.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4EBAD8-2ECE-5922-6F7E-B7CD825D2239}"/>
                  </a:ext>
                </a:extLst>
              </p:cNvPr>
              <p:cNvSpPr txBox="1"/>
              <p:nvPr/>
            </p:nvSpPr>
            <p:spPr>
              <a:xfrm>
                <a:off x="9611121" y="28115483"/>
                <a:ext cx="8555367" cy="6532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Because single copies are vulnerable to affine attacks, we must enforce structure.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b="1" dirty="0"/>
                  <a:t>Tensor Structure: </a:t>
                </a:r>
                <a:r>
                  <a:rPr lang="en-US" altLang="zh-CN" sz="3200" dirty="0"/>
                  <a:t>A valid bolt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3200" dirty="0"/>
                  <a:t> is the tensor product of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3200" dirty="0"/>
                  <a:t> entangled copies of the preimage superposition state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b="1" dirty="0"/>
                  <a:t>Mini-Verification (Span Check):</a:t>
                </a:r>
                <a:r>
                  <a:rPr lang="en-US" altLang="zh-CN" sz="3200" dirty="0"/>
                  <a:t> The verifier checks that each register lies in the valid span of preimages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dirty="0"/>
                  <a:t>Consistency Check</a:t>
                </a:r>
                <a:r>
                  <a:rPr lang="en-US" sz="3200" dirty="0"/>
                  <a:t>: The verifier measures the hash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3200" dirty="0"/>
                  <a:t> on all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3200" dirty="0"/>
                  <a:t> registers. To pass, they must all yield the same serial number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4EBAD8-2ECE-5922-6F7E-B7CD825D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121" y="28115483"/>
                <a:ext cx="8555367" cy="6532942"/>
              </a:xfrm>
              <a:prstGeom prst="rect">
                <a:avLst/>
              </a:prstGeom>
              <a:blipFill>
                <a:blip r:embed="rId3"/>
                <a:stretch>
                  <a:fillRect l="-1778" t="-1163" r="-1778" b="-2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020E4D3F-F282-0E6B-EE64-A78128A73606}"/>
              </a:ext>
            </a:extLst>
          </p:cNvPr>
          <p:cNvSpPr txBox="1"/>
          <p:nvPr/>
        </p:nvSpPr>
        <p:spPr>
          <a:xfrm>
            <a:off x="19127676" y="8248825"/>
            <a:ext cx="75888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* *Theorem: Unbounded Generation:* For any polynomial $N$, a QPT algorithm can produce $N$ valid, distinct banknotes with overwhelming probability.* *Public Verification =&gt; Public Generation:* Since the generation algorithm Storm uses only public operations, anyone with a quantum computer can execute it.* Unlike private-key schemes, there is no secret key to restrict minting.* Public Mint -&gt; Unlimited Supply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F962A5-CE4A-0C0C-493C-63200C4F1934}"/>
              </a:ext>
            </a:extLst>
          </p:cNvPr>
          <p:cNvSpPr txBox="1"/>
          <p:nvPr/>
        </p:nvSpPr>
        <p:spPr>
          <a:xfrm>
            <a:off x="18952764" y="13723619"/>
            <a:ext cx="776372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* *Targeted Cloning is Intractable:* Duplicating a specific serial number $y$ requires solving the specific multi-collision problem for that $y$, which is hard under NAMCR.* *Random Minting is Trivial:* Generating new money implies sampling random inputs for a random $y'$. Due to the large output space ($2^n$), collisions with existing notes are negligible, making inflation easy.* Targeted Cloning: Hard (NAMCR)* Random Minting: Easy (Generate New)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4ECE49-BA3C-5A23-5197-94A7B373B91F}"/>
              </a:ext>
            </a:extLst>
          </p:cNvPr>
          <p:cNvSpPr txBox="1"/>
          <p:nvPr/>
        </p:nvSpPr>
        <p:spPr>
          <a:xfrm>
            <a:off x="18944373" y="21525580"/>
            <a:ext cx="759312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*Summary:* Quantum lightning achieves perfect anti-counterfeiting (uniqueness) but fails to solve supply control.* *Implication:* Public-key quantum money cannot function as a scarcity-based currency because any user can act as a "mint".* *Future Outlook:* While "lightning never strikes the same state twice," it can strike anywhere. Restricting generation remains a major open problem in quantum cryptography.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14A612-C189-FC17-37D8-66D70326C2C7}"/>
              </a:ext>
            </a:extLst>
          </p:cNvPr>
          <p:cNvSpPr txBox="1"/>
          <p:nvPr/>
        </p:nvSpPr>
        <p:spPr>
          <a:xfrm>
            <a:off x="20420092" y="34234805"/>
            <a:ext cx="60978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[1] S. Wiesner, SIGACT News (1983).</a:t>
            </a:r>
          </a:p>
          <a:p>
            <a:r>
              <a:rPr lang="en-US" sz="3200"/>
              <a:t>[2] S. Aaronson &amp; P. Christiano, STOC (2012).</a:t>
            </a:r>
          </a:p>
          <a:p>
            <a:r>
              <a:rPr lang="en-US" sz="3200"/>
              <a:t>[3] M. </a:t>
            </a:r>
            <a:r>
              <a:rPr lang="en-US" sz="3200" err="1"/>
              <a:t>Zhandry</a:t>
            </a:r>
            <a:r>
              <a:rPr lang="en-US" sz="3200"/>
              <a:t>, Journal of Cryptology (2021).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53D4B1B-E2A2-AC40-3D28-081E63BC252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341225" y="6306057"/>
            <a:ext cx="0" cy="31830057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8D2C6E1-760B-DF6A-9768-D38E23B49F6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8412164" y="6333140"/>
            <a:ext cx="0" cy="31830057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AutoShape 2">
            <a:extLst>
              <a:ext uri="{FF2B5EF4-FFF2-40B4-BE49-F238E27FC236}">
                <a16:creationId xmlns:a16="http://schemas.microsoft.com/office/drawing/2014/main" id="{4C48AE41-2E4F-8835-29B8-F41E3D6F6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21938" y="18734648"/>
            <a:ext cx="36446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681859A6-97DA-E9D4-BE3B-661D09BE8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0652" y="26311288"/>
            <a:ext cx="5426820" cy="296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F7DA7FB1-1017-FAF4-72CC-5113AD14F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086873" y="27477840"/>
            <a:ext cx="6162904" cy="336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925D5333-2AA5-9450-D3DE-44918EAF35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4085" y="13335186"/>
            <a:ext cx="4513387" cy="313097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FA06148-A9AD-24C7-F303-B2B5E46FC38C}"/>
              </a:ext>
            </a:extLst>
          </p:cNvPr>
          <p:cNvSpPr txBox="1"/>
          <p:nvPr/>
        </p:nvSpPr>
        <p:spPr>
          <a:xfrm>
            <a:off x="977566" y="23429668"/>
            <a:ext cx="6540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Definition: A scheme is sound if no adversary can produce two valid states ………. that both pass verification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455656-25CD-0578-87A3-E4D4A1873929}"/>
              </a:ext>
            </a:extLst>
          </p:cNvPr>
          <p:cNvSpPr txBox="1"/>
          <p:nvPr/>
        </p:nvSpPr>
        <p:spPr>
          <a:xfrm>
            <a:off x="1002923" y="20418436"/>
            <a:ext cx="6540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Goal:  Allow anyone to verify a banknote using a public circuit, eliminating the need for a central authority for verification.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01B5724-76B6-6C54-D456-3C45679B801F}"/>
              </a:ext>
            </a:extLst>
          </p:cNvPr>
          <p:cNvSpPr txBox="1"/>
          <p:nvPr/>
        </p:nvSpPr>
        <p:spPr>
          <a:xfrm>
            <a:off x="977566" y="21924052"/>
            <a:ext cx="6540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The Challenge:  Verification must be public, yet counterfeiting must remain computationally infeasible.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27941D-D060-E76C-8094-D356459F4C54}"/>
              </a:ext>
            </a:extLst>
          </p:cNvPr>
          <p:cNvSpPr txBox="1"/>
          <p:nvPr/>
        </p:nvSpPr>
        <p:spPr>
          <a:xfrm>
            <a:off x="9611121" y="8040954"/>
            <a:ext cx="853114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/>
              <a:t>How do we build this? </a:t>
            </a:r>
            <a:r>
              <a:rPr lang="en-US" altLang="zh-CN" sz="3200" dirty="0" err="1"/>
              <a:t>Zhandry</a:t>
            </a:r>
            <a:r>
              <a:rPr lang="en-US" altLang="zh-CN" sz="3200" dirty="0"/>
              <a:t> proved that quantum-secure hash functions fall into a strict dichotomy: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200" b="1" dirty="0"/>
              <a:t>Collapsing:</a:t>
            </a:r>
            <a:r>
              <a:rPr lang="en-US" altLang="zh-CN" sz="3200" dirty="0"/>
              <a:t> Measuring the hash output destroys the superposition, collapsing the state to a classical preimage.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200" b="1" dirty="0"/>
              <a:t>Not Collapsing:</a:t>
            </a:r>
            <a:r>
              <a:rPr lang="en-US" altLang="zh-CN" sz="3200" dirty="0"/>
              <a:t> The state remains in a superposition indistinguishable from the original. If a hash function is </a:t>
            </a:r>
            <a:r>
              <a:rPr lang="en-US" altLang="zh-CN" sz="3200" i="1" dirty="0"/>
              <a:t>not</a:t>
            </a:r>
            <a:r>
              <a:rPr lang="en-US" altLang="zh-CN" sz="3200" dirty="0"/>
              <a:t> collapsing, it inherently yields Quantum Lightning.</a:t>
            </a:r>
            <a:endParaRPr kumimoji="1" lang="zh-CN" altLang="en-US" sz="3200" dirty="0"/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B073A5A7-48F2-5D0C-6418-D3DA0E44FB5B}"/>
              </a:ext>
            </a:extLst>
          </p:cNvPr>
          <p:cNvSpPr txBox="1"/>
          <p:nvPr/>
        </p:nvSpPr>
        <p:spPr>
          <a:xfrm>
            <a:off x="9326087" y="18142578"/>
            <a:ext cx="931045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3600" b="1" dirty="0"/>
              <a:t>5. The Degree-2 Polynomial Hash</a:t>
            </a:r>
            <a:endParaRPr lang="en-US" sz="3600" b="1" dirty="0"/>
          </a:p>
        </p:txBody>
      </p:sp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146C4AE0-4654-77A2-92F7-9B27786D01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45" y="13140191"/>
            <a:ext cx="8341697" cy="45410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FE4EBA6-8328-A1C8-B5C2-E7C2993C6B90}"/>
                  </a:ext>
                </a:extLst>
              </p:cNvPr>
              <p:cNvSpPr txBox="1"/>
              <p:nvPr/>
            </p:nvSpPr>
            <p:spPr>
              <a:xfrm>
                <a:off x="9611121" y="18887048"/>
                <a:ext cx="8531147" cy="6986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3200" dirty="0"/>
                  <a:t>We utilize a specific hash function believed to be non-collapsing.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b="1" dirty="0"/>
                  <a:t>The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Function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 </a:t>
                </a:r>
                <a:r>
                  <a:rPr lang="en-US" altLang="zh-CN" sz="3200" dirty="0"/>
                  <a:t>Defined by random upper-triangular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200" dirty="0"/>
                  <a:t> </a:t>
                </a:r>
                <a:r>
                  <a:rPr lang="en-US" altLang="zh-CN" sz="3200" dirty="0"/>
                  <a:t>over</a:t>
                </a:r>
                <a:r>
                  <a:rPr lang="zh-CN" altLang="en-US" sz="3200" dirty="0"/>
                  <a:t> </a:t>
                </a:r>
                <a:endParaRPr lang="en-US" altLang="zh-CN" sz="3200" b="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kumimoji="1" lang="en-US" altLang="zh-CN" sz="320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kumimoji="1" lang="en-US" altLang="zh-CN" sz="320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b="1" dirty="0"/>
                  <a:t>Lack of Collision Resistance:</a:t>
                </a:r>
                <a:r>
                  <a:rPr lang="en-US" altLang="zh-CN" sz="3200" dirty="0"/>
                  <a:t> This function is </a:t>
                </a:r>
                <a:r>
                  <a:rPr lang="en-US" altLang="zh-CN" sz="3200" b="1" dirty="0"/>
                  <a:t>not</a:t>
                </a:r>
                <a:r>
                  <a:rPr lang="en-US" altLang="zh-CN" sz="3200" dirty="0"/>
                  <a:t> collision-resistant. Affine collisions (inputs lying on a line) can be found efficiently by solving linear equations.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b="1" dirty="0"/>
                  <a:t>The Hardness Assumption (NAMCR):</a:t>
                </a:r>
                <a:r>
                  <a:rPr lang="en-US" altLang="zh-CN" sz="3200" dirty="0"/>
                  <a:t> While finding </a:t>
                </a:r>
                <a:r>
                  <a:rPr lang="en-US" altLang="zh-CN" sz="3200" i="1" dirty="0"/>
                  <a:t>affine</a:t>
                </a:r>
                <a:r>
                  <a:rPr lang="en-US" altLang="zh-CN" sz="3200" dirty="0"/>
                  <a:t> collisions is easy, finding a large set of </a:t>
                </a:r>
                <a:r>
                  <a:rPr lang="en-US" altLang="zh-CN" sz="3200" b="1" dirty="0"/>
                  <a:t>Non-Affine Multi-Collisions</a:t>
                </a:r>
                <a:r>
                  <a:rPr lang="en-US" altLang="zh-CN" sz="3200" dirty="0"/>
                  <a:t> is computationally infeasible.</a:t>
                </a: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FE4EBA6-8328-A1C8-B5C2-E7C2993C6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121" y="18887048"/>
                <a:ext cx="8531147" cy="6986528"/>
              </a:xfrm>
              <a:prstGeom prst="rect">
                <a:avLst/>
              </a:prstGeom>
              <a:blipFill>
                <a:blip r:embed="rId9"/>
                <a:stretch>
                  <a:fillRect l="-1783" t="-1270" r="-1783" b="-1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图形 27">
            <a:extLst>
              <a:ext uri="{FF2B5EF4-FFF2-40B4-BE49-F238E27FC236}">
                <a16:creationId xmlns:a16="http://schemas.microsoft.com/office/drawing/2014/main" id="{918C91A9-A71A-4ED4-857B-D34AFA5053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897099" y="20418437"/>
            <a:ext cx="557727" cy="438214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CE6F1B65-5DA7-0CF0-7761-8A646402052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73586" y="21082520"/>
            <a:ext cx="7325085" cy="646331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D14CF2A0-F878-A8C9-B3DA-A127FFF02F6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90160" y="25791407"/>
            <a:ext cx="7382310" cy="1039762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3F95D8C8-1026-1A1A-A2F3-567A7AA3E4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077066" y="30193150"/>
            <a:ext cx="831796" cy="485214"/>
          </a:xfrm>
          <a:prstGeom prst="rect">
            <a:avLst/>
          </a:prstGeom>
        </p:spPr>
      </p:pic>
      <p:pic>
        <p:nvPicPr>
          <p:cNvPr id="50" name="图形 49">
            <a:extLst>
              <a:ext uri="{FF2B5EF4-FFF2-40B4-BE49-F238E27FC236}">
                <a16:creationId xmlns:a16="http://schemas.microsoft.com/office/drawing/2014/main" id="{496BCF8B-CB34-4D06-D99E-05A8EFB2C44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60053" y="30850661"/>
            <a:ext cx="3242522" cy="546109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9F5481DB-E61E-2566-8BA2-7581AF0094E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519036" y="32646494"/>
            <a:ext cx="1102829" cy="546109"/>
          </a:xfrm>
          <a:prstGeom prst="rect">
            <a:avLst/>
          </a:prstGeom>
        </p:spPr>
      </p:pic>
      <p:sp>
        <p:nvSpPr>
          <p:cNvPr id="53" name="TextBox 20">
            <a:extLst>
              <a:ext uri="{FF2B5EF4-FFF2-40B4-BE49-F238E27FC236}">
                <a16:creationId xmlns:a16="http://schemas.microsoft.com/office/drawing/2014/main" id="{780EC228-FEED-70C9-9A35-84D26660DBD4}"/>
              </a:ext>
            </a:extLst>
          </p:cNvPr>
          <p:cNvSpPr txBox="1"/>
          <p:nvPr/>
        </p:nvSpPr>
        <p:spPr>
          <a:xfrm>
            <a:off x="10701820" y="34902024"/>
            <a:ext cx="5849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7. </a:t>
            </a:r>
            <a:r>
              <a:rPr lang="en-US" altLang="zh-CN" sz="4000" dirty="0"/>
              <a:t>Why Security Holds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38">
                <a:extLst>
                  <a:ext uri="{FF2B5EF4-FFF2-40B4-BE49-F238E27FC236}">
                    <a16:creationId xmlns:a16="http://schemas.microsoft.com/office/drawing/2014/main" id="{CD70EF96-7F71-CBA5-6397-2A1C92846062}"/>
                  </a:ext>
                </a:extLst>
              </p:cNvPr>
              <p:cNvSpPr txBox="1"/>
              <p:nvPr/>
            </p:nvSpPr>
            <p:spPr>
              <a:xfrm>
                <a:off x="9627535" y="35470747"/>
                <a:ext cx="888583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Security relies on the collision limit. An adversary producing two valid bolts with the same serial number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3200" dirty="0"/>
                  <a:t> would gain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altLang="zh-CN" sz="3200" dirty="0"/>
                  <a:t>states. Measuring these would reveal 2(r+1) colliding inputs, likely forming a non-affine collision set and violating NAMCR.</a:t>
                </a:r>
                <a:endParaRPr lang="en-US" sz="3200" dirty="0"/>
              </a:p>
            </p:txBody>
          </p:sp>
        </mc:Choice>
        <mc:Fallback>
          <p:sp>
            <p:nvSpPr>
              <p:cNvPr id="54" name="TextBox 38">
                <a:extLst>
                  <a:ext uri="{FF2B5EF4-FFF2-40B4-BE49-F238E27FC236}">
                    <a16:creationId xmlns:a16="http://schemas.microsoft.com/office/drawing/2014/main" id="{CD70EF96-7F71-CBA5-6397-2A1C92846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7535" y="35470747"/>
                <a:ext cx="8885832" cy="3046988"/>
              </a:xfrm>
              <a:prstGeom prst="rect">
                <a:avLst/>
              </a:prstGeom>
              <a:blipFill>
                <a:blip r:embed="rId22"/>
                <a:stretch>
                  <a:fillRect l="-1712" t="-2905" r="-856" b="-5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40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862</Words>
  <Application>Microsoft Macintosh PowerPoint</Application>
  <PresentationFormat>自定义</PresentationFormat>
  <Paragraphs>47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CMR12</vt:lpstr>
      <vt:lpstr>Aptos</vt:lpstr>
      <vt:lpstr>Aptos Display</vt:lpstr>
      <vt:lpstr>Arial</vt:lpstr>
      <vt:lpstr>Arial Black</vt:lpstr>
      <vt:lpstr>Cambria Math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Rattanont hae</dc:creator>
  <cp:lastModifiedBy>郑晓旸</cp:lastModifiedBy>
  <cp:revision>4</cp:revision>
  <dcterms:created xsi:type="dcterms:W3CDTF">2025-12-06T21:59:45Z</dcterms:created>
  <dcterms:modified xsi:type="dcterms:W3CDTF">2025-12-07T01:10:04Z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2025-12-07T00:31:36Z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4b5092db-1300-4e72-b57c-7c679091271f</vt:lpwstr>
  </property>
  <property fmtid="{D5CDD505-2E9C-101B-9397-08002B2CF9AE}" pid="7" name="MSIP_Label_defa4170-0d19-0005-0004-bc88714345d2_ActionId">
    <vt:lpwstr>1e89190b-1840-4979-8f23-426290836766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